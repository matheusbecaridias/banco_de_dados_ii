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880C29-6C51-4E23-BB32-BEC81EE0D323}">
  <a:tblStyle styleId="{88880C29-6C51-4E23-BB32-BEC81EE0D3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26c9292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26c9292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26c9292e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26c9292e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7bd7d534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7bd7d534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1f62e402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1f62e402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7bd7d534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7bd7d534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26c9292e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26c9292e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26c9292e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26c9292e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s://medium.com/@thaisdalencar/o-que-%C3%A9-serializa%C3%A7%C3%A3o-serialization-fc0887bd097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83800" y="2204025"/>
            <a:ext cx="6263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chemeClr val="dk1"/>
                </a:solidFill>
              </a:rPr>
              <a:t>NOSQL: Entendendo JSON</a:t>
            </a:r>
            <a:endParaRPr b="1" sz="400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381900" y="4056300"/>
            <a:ext cx="27621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Prof. Lucas M. Camacho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702000" y="4599900"/>
            <a:ext cx="17400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Londrina, 2026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0"/>
            <a:ext cx="1253049" cy="11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1815450" y="331350"/>
            <a:ext cx="5407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highlight>
                  <a:schemeClr val="lt1"/>
                </a:highlight>
              </a:rPr>
              <a:t>CENTRO EST EDU PROF P MARIA R CASTALDI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Curso Técnico em Análise e Desenvolvimento de Sistemas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</a:rPr>
              <a:t>Banco de Dados II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9875" y="1325230"/>
            <a:ext cx="1546150" cy="82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3250" y="2931900"/>
            <a:ext cx="1124400" cy="11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0" y="0"/>
            <a:ext cx="399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50"/>
              <a:t>Uso do JSON</a:t>
            </a:r>
            <a:endParaRPr b="1" sz="2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0" y="1229663"/>
            <a:ext cx="90519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</a:rPr>
              <a:t>Em uma página web há</a:t>
            </a:r>
            <a:r>
              <a:rPr lang="pt-BR" sz="2200">
                <a:solidFill>
                  <a:schemeClr val="dk1"/>
                </a:solidFill>
              </a:rPr>
              <a:t> uma interface dinâmica com o </a:t>
            </a:r>
            <a:r>
              <a:rPr b="1" lang="pt-BR" sz="2200">
                <a:solidFill>
                  <a:schemeClr val="dk1"/>
                </a:solidFill>
              </a:rPr>
              <a:t>JavaScript</a:t>
            </a:r>
            <a:r>
              <a:rPr lang="pt-BR" sz="2200">
                <a:solidFill>
                  <a:schemeClr val="dk1"/>
                </a:solidFill>
              </a:rPr>
              <a:t>, um banco de dados em </a:t>
            </a:r>
            <a:r>
              <a:rPr b="1" lang="pt-BR" sz="2200">
                <a:solidFill>
                  <a:schemeClr val="dk1"/>
                </a:solidFill>
              </a:rPr>
              <a:t>SQL </a:t>
            </a:r>
            <a:r>
              <a:rPr lang="pt-BR" sz="2200">
                <a:solidFill>
                  <a:schemeClr val="dk1"/>
                </a:solidFill>
              </a:rPr>
              <a:t>e um servidor em </a:t>
            </a:r>
            <a:r>
              <a:rPr b="1" lang="pt-BR" sz="2200">
                <a:solidFill>
                  <a:schemeClr val="dk1"/>
                </a:solidFill>
              </a:rPr>
              <a:t>Python/JAVA</a:t>
            </a:r>
            <a:r>
              <a:rPr lang="pt-BR" sz="2200">
                <a:solidFill>
                  <a:schemeClr val="dk1"/>
                </a:solidFill>
              </a:rPr>
              <a:t>. Como uma camada pode se comunicar com a outra, ou seja, como os dados captados/emitidos são “transportados” até o SQL Server?</a:t>
            </a:r>
            <a:endParaRPr sz="2200">
              <a:solidFill>
                <a:schemeClr val="dk1"/>
              </a:solidFill>
            </a:endParaRPr>
          </a:p>
          <a:p>
            <a:pPr indent="457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pt-BR" sz="2200">
                <a:solidFill>
                  <a:schemeClr val="dk1"/>
                </a:solidFill>
              </a:rPr>
              <a:t>.json </a:t>
            </a:r>
            <a:r>
              <a:rPr lang="pt-BR" sz="2200">
                <a:solidFill>
                  <a:schemeClr val="dk1"/>
                </a:solidFill>
              </a:rPr>
              <a:t>é um formato de texto aceito por todas as camadas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0" y="4743300"/>
            <a:ext cx="224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Fonte: autoria própria.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0" y="1040250"/>
            <a:ext cx="90519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pt-BR" sz="2200">
                <a:solidFill>
                  <a:schemeClr val="dk1"/>
                </a:solidFill>
              </a:rPr>
              <a:t>JSON (JavaScript Object Notation): </a:t>
            </a:r>
            <a:r>
              <a:rPr lang="pt-BR" sz="2200">
                <a:solidFill>
                  <a:schemeClr val="dk1"/>
                </a:solidFill>
              </a:rPr>
              <a:t>Formato de intercâmbio de dados que independe das linguagem;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Leva esse nome (JavaScript Notation) pois sua sintaxe é derivada de objetos JavaScript;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É baseado em formato de texto e usado para serialização de dados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0" y="0"/>
            <a:ext cx="570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chemeClr val="dk1"/>
                </a:solidFill>
              </a:rPr>
              <a:t>JSON (JavaScript Object Notation)</a:t>
            </a:r>
            <a:endParaRPr b="1"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-13525" y="707713"/>
            <a:ext cx="905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É uma estrutura de dados composta por uma coleção de </a:t>
            </a:r>
            <a:r>
              <a:rPr b="1" lang="pt-BR" sz="1800">
                <a:solidFill>
                  <a:schemeClr val="dk1"/>
                </a:solidFill>
              </a:rPr>
              <a:t>chave - valores </a:t>
            </a:r>
            <a:r>
              <a:rPr lang="pt-BR" sz="1800">
                <a:solidFill>
                  <a:schemeClr val="dk1"/>
                </a:solidFill>
              </a:rPr>
              <a:t>que agrupam dados e funcionalidades relacionadas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Chave </a:t>
            </a:r>
            <a:r>
              <a:rPr lang="pt-BR" sz="1800">
                <a:solidFill>
                  <a:schemeClr val="dk1"/>
                </a:solidFill>
              </a:rPr>
              <a:t>é uma string e os </a:t>
            </a:r>
            <a:r>
              <a:rPr b="1" lang="pt-BR" sz="1800">
                <a:solidFill>
                  <a:schemeClr val="dk1"/>
                </a:solidFill>
              </a:rPr>
              <a:t>valores </a:t>
            </a:r>
            <a:r>
              <a:rPr lang="pt-BR" sz="1800">
                <a:solidFill>
                  <a:schemeClr val="dk1"/>
                </a:solidFill>
              </a:rPr>
              <a:t>são qualquer tipo de dados (string, numeros, array, funções).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0" y="0"/>
            <a:ext cx="570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chemeClr val="dk1"/>
                </a:solidFill>
              </a:rPr>
              <a:t>O que é um objeto JavaScript</a:t>
            </a:r>
            <a:endParaRPr b="1" sz="2600">
              <a:solidFill>
                <a:schemeClr val="dk1"/>
              </a:solidFill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496" y="2462800"/>
            <a:ext cx="4985004" cy="26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50"/>
              <a:t>Serialização de Dados</a:t>
            </a:r>
            <a:endParaRPr b="1" sz="2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-13525" y="707713"/>
            <a:ext cx="9051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É o processo em converter uma estrutura de dados ou objeto em um formato que possa ser armazenado ou transferido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Permite a compreensão e armazenamento de dados independente da linguagem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000" y="2135737"/>
            <a:ext cx="7369505" cy="283798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433625" y="4897750"/>
            <a:ext cx="81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Fonte:</a:t>
            </a:r>
            <a:r>
              <a:rPr lang="pt-BR" sz="1200" u="sng">
                <a:solidFill>
                  <a:schemeClr val="hlink"/>
                </a:solidFill>
                <a:hlinkClick r:id="rId4"/>
              </a:rPr>
              <a:t>https://medium.com/@thaisdalencar/o-que-%C3%A9-serializa%C3%A7%C3%A3o-serialization-fc0887bd0970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50"/>
              <a:t>NOSQL: Not Only SQL</a:t>
            </a:r>
            <a:endParaRPr b="1" sz="2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-13525" y="707725"/>
            <a:ext cx="90519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É uma abordagem na qual os dados não são armazenados em tabelas bem definidas;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Armazenamento de dados em diferentes formatos, como .json, Wide-column e outros;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São bancos de dados distribuídos (diferentes locais de armazenamento);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Foco em armazenamento de dados semi-estruturados;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Alta disponibilidade;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Replicação de Dados;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Escalabilidade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50"/>
              <a:t>NOSQL e SQL: Aplicações</a:t>
            </a:r>
            <a:endParaRPr b="1" sz="2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101250" y="119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{88880C29-6C51-4E23-BB32-BEC81EE0D323}</a:tableStyleId>
              </a:tblPr>
              <a:tblGrid>
                <a:gridCol w="1993200"/>
                <a:gridCol w="3611075"/>
                <a:gridCol w="3307800"/>
              </a:tblGrid>
              <a:tr h="59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Abordagens</a:t>
                      </a:r>
                      <a:endParaRPr b="1" sz="1800"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Aplicações</a:t>
                      </a:r>
                      <a:endParaRPr b="1" sz="1800"/>
                    </a:p>
                  </a:txBody>
                  <a:tcPr marT="91425" marB="91425" marR="91425" marL="91425"/>
                </a:tc>
                <a:tc hMerge="1"/>
              </a:tr>
              <a:tr h="132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chemeClr val="dk1"/>
                          </a:solidFill>
                        </a:rPr>
                        <a:t>SQL (Relacional)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Para representar transações dentro de uma empresa (compra, venda, produção, etc)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Armazenamento e manipulação de dados sensíveis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1712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chemeClr val="dk1"/>
                          </a:solidFill>
                        </a:rPr>
                        <a:t>NOSQL (Distribuído)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Gerencia um alto volume de dados (banco de dados </a:t>
                      </a:r>
                      <a:r>
                        <a:rPr lang="pt-BR" sz="1800"/>
                        <a:t>massivos</a:t>
                      </a:r>
                      <a:r>
                        <a:rPr lang="pt-BR" sz="1800"/>
                        <a:t>) que não estejam modelando um processo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Alto uso em mídias sociais (Instagram, Facebook, X, etc), mapas, links e empresas como Amazon e Google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